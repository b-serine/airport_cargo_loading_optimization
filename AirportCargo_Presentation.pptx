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Feasibility %</c:v>
                </c:pt>
              </c:strCache>
            </c:strRef>
          </c:tx>
          <c:spPr>
            <a:solidFill>
              <a:srgbClr val="37474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747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49B-463B-B36E-D42B47E98447}"/>
              </c:ext>
            </c:extLst>
          </c:dPt>
          <c:dPt>
            <c:idx val="1"/>
            <c:invertIfNegative val="0"/>
            <c:bubble3D val="0"/>
            <c:spPr>
              <a:solidFill>
                <a:srgbClr val="607D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9B-463B-B36E-D42B47E98447}"/>
              </c:ext>
            </c:extLst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49B-463B-B36E-D42B47E98447}"/>
              </c:ext>
            </c:extLst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49B-463B-B36E-D42B47E98447}"/>
              </c:ext>
            </c:extLst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49B-463B-B36E-D42B47E9844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E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MILP</c:v>
                </c:pt>
                <c:pt idx="1">
                  <c:v>B&amp;B</c:v>
                </c:pt>
                <c:pt idx="2">
                  <c:v>GA</c:v>
                </c:pt>
                <c:pt idx="3">
                  <c:v>SA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38</c:v>
                </c:pt>
                <c:pt idx="2">
                  <c:v>46</c:v>
                </c:pt>
                <c:pt idx="3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9B-463B-B36E-D42B47E984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415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every required deliverable: two formulations, NP-completeness, Branch &amp; Bound, GA, SA, experiments on 13 instances, and comparative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essentially 3D Bin Packing with aircraft-specific add-ons. The 7 constraints make it much harder than standard BPP.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7 instances have only 1 bin available but item volume exceeds capacity — they are mathematically unsolvable. Only the 6 green instances produce valid experimental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present two formulations that are genuinely different, not just re-labelled versions of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MILP uses a binary n×m matrix. The CBC solver finds the global optimum via branch-and-cut. Constraint C9 adds symmetry breaking to avoid equivalent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formulations differ in variable type (binary vs integer), constraint representation, and solving paradigm. The CP model's chromatic lower bound identifies infeasible instances before running any 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implement 4 algorithms: MILP (exact), Branch &amp; Bound (exact), GA (population), SA (local search).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repair heuristic is the most important shared component. It transforms any infeasible assignment into the best feasible one it can find through 6 sequential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B&amp;B times out on 3dBPP_8 and 3dBPP_test because the constraint graph is complex enough that the tree grows large before the solution is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 works well because partial assignments respecting incompatibility or co-location in one part of the vector can be combined with good weight-balance solutions from another via crossover.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SA's violation-aware neighbourhood is the key innovation: when incompatibility violations are active, it preferentially uses swap_items to directly fix them rather than hoping random moves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Experimental section. We run all 4 methods on all 13 instances and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46% feasibility means 6 out of 13. The identical rates for MILP, GA, SA show they all solve the same 6 instances. B&amp;B solves fewer because it times out on 3dBPP_8 and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 matching MILP exactly on 5 out of 6 instances is the headline result. A metaheuristic with no optimality guarantee equals the exact solver in solution quality, at 30s vs sub-second.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4 conclusions map directly to the 7 project requirements: formulations → 1; complexity → 2; B&amp;B → covered in 2; GA+SA → 3; repair → 5; experiments → covered in 3; analysis → slides 14-16.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~5 minutes for questions. Likely questions: why is SA as good as MILP? (because the problem space is smooth for small n); why are 7 instances infeasible? (volume overflow confirmed by CP lower bound).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457200"/>
            <a:ext cx="1645920" cy="1645920"/>
          </a:xfrm>
          <a:prstGeom prst="ellipse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457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1E88E5"/>
                </a:solidFill>
              </a:rPr>
              <a:t>✈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Cargo Loading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Formulations · Exact Methods · Metaheuristics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274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Cargo Optimization 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03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279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36576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703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4279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6576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703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46320" y="4279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365760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703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40880" y="4279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Solving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must load heterogeneous cargo into aircraft compartments before departure.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has weight, volume (L×W×H), and special handling requirements.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assign every item to a compartment to minimise total handling cost while satisfying all safety and operational constraints.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handling cost grows with distance from the loading door — forward compartments are cheaper to load than rear ones.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00600" y="150876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5087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49240" y="1508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20840" y="15087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in exactly one compartment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984248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9842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49240" y="19842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20840" y="19842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 ≤ compartment limit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459736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4597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49240" y="24597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245973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 ≤ compartment capacity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935224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29352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49240" y="29352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Items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293522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cargo → lower deck only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410712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341071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49240" y="34107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34107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item pairs cannot share a bin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88620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3886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49240" y="3886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38862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item pairs must share a bin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361688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43616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C7-8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49240" y="43616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43616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mass within safety tolerance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961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Instances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(3dBPP_1 → 3dBPP_test)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8686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8961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0" y="146304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Instances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(have ≥2 bins, enough capacity)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8686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8961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35040" y="146304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 Instances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bin, volume exceeded)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84124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331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Characteristics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7223760" cy="21031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 Pairs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CoLoc Pairs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Solvable?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3dBPP_1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Vol overload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3dBPP_2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3dBPP_6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3dBPP_8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3dBPP_11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3dBPP_12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3dBPP_test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35086" y="731520"/>
            <a:ext cx="2743200" cy="2743200"/>
          </a:xfrm>
          <a:prstGeom prst="ellipse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abstraction levels of the same problem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1 — Classical MILP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961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Variables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ᵢⱼ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{0,1}  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item i → compartment j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ⱼ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{0,1}  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compartment j is used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817765"/>
            <a:ext cx="4343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r>
              <a:rPr lang="en-US" sz="1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26281" y="15270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17720" y="10515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Σᵢ Σⱼ cᵢⱼ · xᵢⱼ  +  μ · Σⱼ yⱼ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18288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μ = small bin-usage penalty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cᵢⱼ = handling cost (distance from door)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97876"/>
            <a:ext cx="8412480" cy="2245624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861063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C1–C9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475488" cy="320040"/>
          </a:xfrm>
          <a:prstGeom prst="roundRect">
            <a:avLst>
              <a:gd name="adj" fmla="val 14286"/>
            </a:avLst>
          </a:prstGeom>
          <a:solidFill>
            <a:srgbClr val="00ACC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27355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24128" y="3273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Σⱼ xᵢⱼ = 1  ∀i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98648" y="32735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assigned exactly once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273552"/>
            <a:ext cx="475488" cy="320040"/>
          </a:xfrm>
          <a:prstGeom prst="roundRect">
            <a:avLst>
              <a:gd name="adj" fmla="val 14286"/>
            </a:avLst>
          </a:prstGeom>
          <a:solidFill>
            <a:srgbClr val="00ACC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27355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93208" y="3273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Σᵢ wᵢ xᵢⱼ ≤ Wⱼ  ∀j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67728" y="32735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capacity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776472"/>
            <a:ext cx="475488" cy="320040"/>
          </a:xfrm>
          <a:prstGeom prst="roundRect">
            <a:avLst>
              <a:gd name="adj" fmla="val 14286"/>
            </a:avLst>
          </a:prstGeom>
          <a:solidFill>
            <a:srgbClr val="00ACC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7647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24128" y="3776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Σᵢ vᵢ xᵢⱼ ≤ Vⱼ  ∀j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98648" y="37764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capacity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776472"/>
            <a:ext cx="475488" cy="320040"/>
          </a:xfrm>
          <a:prstGeom prst="roundRect">
            <a:avLst>
              <a:gd name="adj" fmla="val 14286"/>
            </a:avLst>
          </a:prstGeom>
          <a:solidFill>
            <a:srgbClr val="00ACC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377647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93208" y="3776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xᵢⱼ = 0  ∀i∈H, j∉J_lower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67728" y="37764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items → lower deck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279392"/>
            <a:ext cx="475488" cy="320040"/>
          </a:xfrm>
          <a:prstGeom prst="roundRect">
            <a:avLst>
              <a:gd name="adj" fmla="val 14286"/>
            </a:avLst>
          </a:prstGeom>
          <a:solidFill>
            <a:srgbClr val="00ACC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27939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24128" y="4279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xᵢⱼ + xₖⱼ ≤ 1  ∀(i,k)∈I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98648" y="4279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4279392"/>
            <a:ext cx="475488" cy="320040"/>
          </a:xfrm>
          <a:prstGeom prst="roundRect">
            <a:avLst>
              <a:gd name="adj" fmla="val 14286"/>
            </a:avLst>
          </a:prstGeom>
          <a:solidFill>
            <a:srgbClr val="00ACC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0" y="427939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93208" y="4279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xᵢⱼ = xₖⱼ  ∀(i,k)∈C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67728" y="4279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782312"/>
            <a:ext cx="475488" cy="320040"/>
          </a:xfrm>
          <a:prstGeom prst="roundRect">
            <a:avLst>
              <a:gd name="adj" fmla="val 14286"/>
            </a:avLst>
          </a:prstGeom>
          <a:solidFill>
            <a:srgbClr val="00ACC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478231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C7-8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24128" y="4782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CoM ∈ [x*±δₓ, y*±δᵧ]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98648" y="47823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&amp; lateral balance</a:t>
            </a:r>
            <a:endParaRPr lang="en-US" sz="1000" dirty="0"/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4507D12C-D3A9-4A16-A099-A05A1FC58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049" y="1997783"/>
            <a:ext cx="3241783" cy="3855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2 — Graph-Based CP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96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Graph G = (V, 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V = items (one per cargo item)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E connect items that CANNOT share a bin: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Explicit incompatibility pairs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Weight-infeasibility edges (wᵢ + wₖ &gt; min capacity)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Volume-infeasibility edges (vᵢ + vₖ &gt; bin volume)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xᵢ ∈ {0,…,m−1}  (integer, not binary)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paradigm: domain propagation + arc-consistency — no LP relaxation needed.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 chromatic lower bound gives minimum bins required instantly.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82296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896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vs Graph-CP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3886200" cy="3291841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Graph-CP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xᵢⱼ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xᵢ 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inequality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in conflict 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sum ≤ 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BinPacking propagator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Branch-and-cut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LP relaxation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enumeration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 relaxation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Chromatic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on small 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pruning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691738"/>
            <a:ext cx="3657600" cy="3657600"/>
          </a:xfrm>
          <a:prstGeom prst="ellipse">
            <a:avLst/>
          </a:prstGeom>
          <a:solidFill>
            <a:srgbClr val="00ACC1">
              <a:alpha val="10000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Methods  ·  Population-Based  ·  Local Search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Engine &amp; Problem-Specific Operators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86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— Integer Assignment Vector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06240" y="8869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[ 0, 1, 0, 0, 1, 0, 1, 1, 0, 1 ]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xᵢ ∈ {0,…,m−1} is the compartment assigned to item i.  Compact (n integers vs n×m binary), directly interpretable, naturally enforces C1.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011680" cy="26060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2148840"/>
            <a:ext cx="548640" cy="548640"/>
          </a:xfrm>
          <a:prstGeom prst="ellipse">
            <a:avLst/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move_item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 one item to a different bin.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single-step change.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SA, hill climbing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42032" y="2103120"/>
            <a:ext cx="2011680" cy="26060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2148840"/>
            <a:ext cx="548640" cy="548640"/>
          </a:xfrm>
          <a:prstGeom prst="ellipse">
            <a:avLst/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7355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33472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swap_items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33472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two items between bins.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when incompatibilities are active.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33472" y="4114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SA, Tabu Search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18304" y="2103120"/>
            <a:ext cx="2011680" cy="26060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9824" y="2148840"/>
            <a:ext cx="548640" cy="548640"/>
          </a:xfrm>
          <a:prstGeom prst="ellipse">
            <a:avLst/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9824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9744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or_opt(k)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9744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block of k consecutive items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random bin.  Coarser diversification.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9744" y="4114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VNS, ILS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94576" y="2103120"/>
            <a:ext cx="2011680" cy="26060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26096" y="2148840"/>
            <a:ext cx="548640" cy="548640"/>
          </a:xfrm>
          <a:prstGeom prst="ellipse">
            <a:avLst/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26096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86016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86016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reassign s items at once.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large-scale diversification.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86016" y="4114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Restarts, ILS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773168"/>
            <a:ext cx="8412480" cy="292608"/>
          </a:xfrm>
          <a:prstGeom prst="roundRect">
            <a:avLst>
              <a:gd name="adj" fmla="val 37500"/>
            </a:avLst>
          </a:prstGeom>
          <a:solidFill>
            <a:srgbClr val="E8F5E9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80060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Heuristic (6 passes): P1 heavy items → P2 incompatibility → P3 co-location → P4 weight overload → P5 CoM balance → P6 cost-improving pass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Method — Branch &amp; Bound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8992" y="859536"/>
            <a:ext cx="585216" cy="585216"/>
          </a:xfrm>
          <a:prstGeom prst="ellipse">
            <a:avLst/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78992" y="85953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one item at a time. Try each feasible bin. Most-constrained item first (fewest valid bins).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82296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55264" y="859536"/>
            <a:ext cx="585216" cy="585216"/>
          </a:xfrm>
          <a:prstGeom prst="ellipse">
            <a:avLst/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55264" y="85953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33472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33472" y="1920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= partial cost + Σᵢ≥ₖ min_j cᵢⱼ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Admissible: never overestimates true cost.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18304" y="82296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31536" y="859536"/>
            <a:ext cx="585216" cy="585216"/>
          </a:xfrm>
          <a:prstGeom prst="ellipse">
            <a:avLst/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31536" y="85953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9744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9744" y="1920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LB ≥ best solution found so far → cut entire subtree. Saves exponential work.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94576" y="82296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07808" y="859536"/>
            <a:ext cx="585216" cy="585216"/>
          </a:xfrm>
          <a:prstGeom prst="ellipse">
            <a:avLst/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07808" y="85953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86016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86016" y="19202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solution provides tight initial upper bound before branching starts.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401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8221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optimal on feasible instances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1696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admissible lower bound prunes aggressively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5171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start dramatically reduces tree size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3375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401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8221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LP relaxation → weaker pruning than MILP on large trees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1696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time-out on 2-bin instances with many items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45171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exponentially — not suitable for n &gt; 100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Population-Based — Genetic Algorithm (GA)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1298448" cy="777240"/>
          </a:xfrm>
          <a:prstGeom prst="roundRect">
            <a:avLst>
              <a:gd name="adj" fmla="val 11765"/>
            </a:avLst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82296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18488" y="100584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88E5"/>
                </a:solidFill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64792" y="822960"/>
            <a:ext cx="1298448" cy="777240"/>
          </a:xfrm>
          <a:prstGeom prst="roundRect">
            <a:avLst>
              <a:gd name="adj" fmla="val 11765"/>
            </a:avLst>
          </a:prstGeom>
          <a:solidFill>
            <a:srgbClr val="EE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64792" y="82296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(Tournament-3)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3240" y="100584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88E5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9544" y="822960"/>
            <a:ext cx="1298448" cy="777240"/>
          </a:xfrm>
          <a:prstGeom prst="roundRect">
            <a:avLst>
              <a:gd name="adj" fmla="val 11765"/>
            </a:avLst>
          </a:prstGeom>
          <a:solidFill>
            <a:srgbClr val="EE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9544" y="82296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(UX / SPX)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07992" y="100584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88E5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54296" y="822960"/>
            <a:ext cx="1298448" cy="777240"/>
          </a:xfrm>
          <a:prstGeom prst="roundRect">
            <a:avLst>
              <a:gd name="adj" fmla="val 11765"/>
            </a:avLst>
          </a:prstGeom>
          <a:solidFill>
            <a:srgbClr val="EE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4296" y="82296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(Adaptive)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52744" y="100584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88E5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48" y="822960"/>
            <a:ext cx="1298448" cy="777240"/>
          </a:xfrm>
          <a:prstGeom prst="roundRect">
            <a:avLst>
              <a:gd name="adj" fmla="val 11765"/>
            </a:avLst>
          </a:prstGeom>
          <a:solidFill>
            <a:srgbClr val="EE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82296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(60% prob)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97496" y="100584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88E5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43800" y="822960"/>
            <a:ext cx="1298448" cy="777240"/>
          </a:xfrm>
          <a:prstGeom prst="roundRect">
            <a:avLst>
              <a:gd name="adj" fmla="val 11765"/>
            </a:avLst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43800" y="82296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828800"/>
            <a:ext cx="8412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19019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Problem-Specific Design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2651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Choice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(UX) if diversity &gt; 0.5,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Single-Point (SPX) otherwise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preserves schema diversity; SPX preserves block structure for constrained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Per-gene Bernoulli, rate 0.08→0.02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early exploration, fine-tuning near convergence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Diversity restart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Immigration if diversity &lt; 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premature convergence to suboptimal clusters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item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_fix_h() enforces domain restriction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Guarantees C4 after every genetic 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after crossover (60% prob)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Maintains feasibility without making repair mandatory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— Simulated Annealing (SA)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86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P(accept worse) = e^(−ΔE / 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starts high (80% acceptance), cools geometrically: T ← α·T, α=0.9985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36676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886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984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89566" y="1477627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We chose SA because it is the best local-search method for heavily constrained problems — its violation-aware </a:t>
            </a:r>
            <a:r>
              <a:rPr lang="en-US" sz="1000" dirty="0" err="1"/>
              <a:t>neighbourhood</a:t>
            </a:r>
            <a:r>
              <a:rPr lang="en-US" sz="1000" dirty="0"/>
              <a:t> directly targets active constraint violations</a:t>
            </a:r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84124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4231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8229600" cy="210921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Violation-aware nbhd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swap_items when incompat. active;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move_item otherwise (60/40)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targets active violations rather than random exploration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Reheating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3× on stagnation (10k moves)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Escapes deep local optima without full restart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Multi-restart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restarts with perturbation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Broader search coverage across solution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Reassign n/8 items randomly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genuine diversification between restarts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9862" y="257398"/>
            <a:ext cx="4572000" cy="4572000"/>
          </a:xfrm>
          <a:prstGeom prst="ellipse">
            <a:avLst/>
          </a:prstGeom>
          <a:solidFill>
            <a:srgbClr val="FFB300">
              <a:alpha val="8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Study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instances · 4 methods · Comparative analysis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— Protocol &amp; Key Finding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7344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86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Protocol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benchmark instances (3dBPP_1–12 + test)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methods: MILP, B&amp;B (exact); GA, SA (meta)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93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budget: 60 s exact / 30 s metaheuristic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3408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seeds for reproducibility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8833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feasibility rate, objective, gap%, rank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8869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29844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19202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88001"/>
            <a:ext cx="8412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3101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Rate by Method (all 13 instances)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2600584523"/>
              </p:ext>
            </p:extLst>
          </p:nvPr>
        </p:nvGraphicFramePr>
        <p:xfrm>
          <a:off x="457200" y="3703320"/>
          <a:ext cx="822960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">
            <a:extLst>
              <a:ext uri="{FF2B5EF4-FFF2-40B4-BE49-F238E27FC236}">
                <a16:creationId xmlns:a16="http://schemas.microsoft.com/office/drawing/2014/main" id="{FB29FA1D-8B00-4291-A2DA-525255A6F40D}"/>
              </a:ext>
            </a:extLst>
          </p:cNvPr>
          <p:cNvSpPr/>
          <p:nvPr/>
        </p:nvSpPr>
        <p:spPr>
          <a:xfrm>
            <a:off x="4366260" y="847344"/>
            <a:ext cx="4434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eaLnBrk="0" fontAlgn="base" hangingPunct="0">
              <a:buSzPts val="700"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</a:p>
          <a:p>
            <a:pPr eaLnBrk="0" fontAlgn="base" hangingPunct="0">
              <a:buSzPts val="700"/>
            </a:pPr>
            <a:endParaRPr lang="en-US" sz="12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  <a:buClrTx/>
              <a:buSzPts val="700"/>
            </a:pPr>
            <a:r>
              <a:rPr lang="en-US" sz="1200" i="0" kern="1200" baseline="0" dirty="0">
                <a:ln>
                  <a:noFill/>
                </a:ln>
                <a:effectLst/>
                <a:latin typeface="+mj-lt"/>
                <a:ea typeface="+mn-ea"/>
                <a:cs typeface="+mn-cs"/>
              </a:rPr>
              <a:t>MILP  is the strongest performer on this dataset.</a:t>
            </a: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  <a:buClrTx/>
              <a:buSzPts val="700"/>
              <a:buFont typeface="Arial" panose="020B0604020202020204" pitchFamily="34" charset="0"/>
              <a:buChar char="•"/>
            </a:pPr>
            <a:endParaRPr lang="en-US" sz="1200" dirty="0">
              <a:effectLst/>
              <a:latin typeface="+mj-lt"/>
            </a:endParaRP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en-US" sz="1200" i="0" kern="1200" baseline="0" dirty="0">
                <a:ln>
                  <a:noFill/>
                </a:ln>
                <a:effectLst/>
                <a:latin typeface="+mj-lt"/>
                <a:ea typeface="+mn-ea"/>
                <a:cs typeface="+mn-cs"/>
              </a:rPr>
              <a:t>SA is close behind and competitive when feasible.</a:t>
            </a: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+mj-lt"/>
            </a:endParaRP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en-US" sz="1200" i="0" kern="1200" baseline="0" dirty="0">
                <a:ln>
                  <a:noFill/>
                </a:ln>
                <a:effectLst/>
                <a:latin typeface="+mj-lt"/>
                <a:ea typeface="+mn-ea"/>
                <a:cs typeface="+mn-cs"/>
              </a:rPr>
              <a:t>GA is reasonable, but slightly behind SA/MILP in rank.</a:t>
            </a: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+mj-lt"/>
            </a:endParaRPr>
          </a:p>
          <a:p>
            <a:pPr marL="0" marR="0" indent="0" algn="l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en-US" sz="1200" i="0" kern="1200" baseline="0" dirty="0" err="1">
                <a:ln>
                  <a:noFill/>
                </a:ln>
                <a:effectLst/>
                <a:latin typeface="+mj-lt"/>
                <a:ea typeface="+mn-ea"/>
                <a:cs typeface="+mn-cs"/>
              </a:rPr>
              <a:t>BnB</a:t>
            </a:r>
            <a:r>
              <a:rPr lang="en-US" sz="1200" i="0" kern="1200" baseline="0" dirty="0">
                <a:ln>
                  <a:noFill/>
                </a:ln>
                <a:effectLst/>
                <a:latin typeface="+mj-lt"/>
                <a:ea typeface="+mn-ea"/>
                <a:cs typeface="+mn-cs"/>
              </a:rPr>
              <a:t> is the weakest here, mainly because it achieved feasibility less often</a:t>
            </a:r>
            <a:endParaRPr lang="en-US" sz="1200" dirty="0">
              <a:effectLst/>
              <a:latin typeface="+mj-lt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Results (Feasible Instances)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903863"/>
              </p:ext>
            </p:extLst>
          </p:nvPr>
        </p:nvGraphicFramePr>
        <p:xfrm>
          <a:off x="0" y="754380"/>
          <a:ext cx="9144000" cy="2651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Gap%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 inst.)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B&amp;B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6576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65760" y="3703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=Optimal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42976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and MILP matches exactly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feasible instances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182112" y="36576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182112" y="3703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182112" y="42976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and MILP achieves zero gap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best-known on 5 instances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98464" y="36576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98464" y="37033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98464" y="42976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B&amp;B gap on 3dBPP_11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(time-limited, not converged)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78992"/>
            <a:ext cx="502920" cy="502920"/>
          </a:xfrm>
          <a:prstGeom prst="ellipse">
            <a:avLst/>
          </a:prstGeom>
          <a:solidFill>
            <a:srgbClr val="1E88E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10789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Segoe WPC"/>
              </a:rPr>
              <a:t>Exact methods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37760" y="1078992"/>
            <a:ext cx="502920" cy="502920"/>
          </a:xfrm>
          <a:prstGeom prst="ellipse">
            <a:avLst/>
          </a:prstGeom>
          <a:solidFill>
            <a:srgbClr val="00ACC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13832" y="10789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0" dirty="0">
                <a:solidFill>
                  <a:srgbClr val="BFBFBF"/>
                </a:solidFill>
                <a:effectLst/>
                <a:latin typeface="Segoe WPC"/>
              </a:rPr>
              <a:t>Simulated Annealing (SA)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6184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BFBFBF"/>
                </a:solidFill>
                <a:effectLst/>
                <a:latin typeface="Segoe WPC"/>
              </a:rPr>
              <a:t>Simulated Annealing (SA)</a:t>
            </a:r>
            <a:r>
              <a:rPr lang="en-US" sz="800" b="0" i="0" dirty="0">
                <a:solidFill>
                  <a:srgbClr val="BFBFBF"/>
                </a:solidFill>
                <a:effectLst/>
                <a:latin typeface="Segoe WPC"/>
              </a:rPr>
              <a:t> is the most robust heuristic: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BFBFBF"/>
                </a:solidFill>
                <a:effectLst/>
                <a:latin typeface="Segoe WPC"/>
              </a:rPr>
              <a:t>Best default metaheuristic for larger or real-time use.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BFBFBF"/>
                </a:solidFill>
                <a:effectLst/>
                <a:latin typeface="Segoe WPC"/>
              </a:rPr>
              <a:t>Auto-calibrated temperature and reheating improve search and escape local optima.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BFBFBF"/>
                </a:solidFill>
                <a:effectLst/>
                <a:latin typeface="Segoe WPC"/>
              </a:rPr>
              <a:t>Handles constraints well via violation-aware neighborhood moves.</a:t>
            </a:r>
          </a:p>
        </p:txBody>
      </p:sp>
      <p:sp>
        <p:nvSpPr>
          <p:cNvPr id="13" name="Shape 11"/>
          <p:cNvSpPr/>
          <p:nvPr/>
        </p:nvSpPr>
        <p:spPr>
          <a:xfrm>
            <a:off x="365760" y="2939796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sz="800" b="1" i="0" dirty="0">
              <a:solidFill>
                <a:srgbClr val="BFBFBF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800" b="1" dirty="0">
              <a:solidFill>
                <a:srgbClr val="BFBFBF"/>
              </a:solidFill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800" b="1" i="0" dirty="0">
              <a:solidFill>
                <a:srgbClr val="BFBFBF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800" b="1" dirty="0">
              <a:solidFill>
                <a:srgbClr val="BFBFBF"/>
              </a:solidFill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800" b="1" i="0" dirty="0">
              <a:solidFill>
                <a:srgbClr val="BFBFBF"/>
              </a:solidFill>
              <a:effectLst/>
              <a:latin typeface="Segoe WPC"/>
            </a:endParaRPr>
          </a:p>
          <a:p>
            <a:pPr algn="l"/>
            <a:r>
              <a:rPr lang="en-US" sz="800" b="1" i="0" dirty="0">
                <a:solidFill>
                  <a:srgbClr val="BFBFBF"/>
                </a:solidFill>
                <a:effectLst/>
                <a:latin typeface="Segoe WPC"/>
              </a:rPr>
              <a:t>Genetic Algorithm (GA)</a:t>
            </a:r>
            <a:r>
              <a:rPr lang="en-US" sz="800" b="0" i="0" dirty="0">
                <a:solidFill>
                  <a:srgbClr val="BFBFBF"/>
                </a:solidFill>
                <a:effectLst/>
                <a:latin typeface="Segoe WPC"/>
              </a:rPr>
              <a:t> works well when diversity is maintained: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BFBFBF"/>
                </a:solidFill>
                <a:effectLst/>
                <a:latin typeface="Segoe WPC"/>
              </a:rPr>
              <a:t>Good for multi-bin instances.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BFBFBF"/>
                </a:solidFill>
                <a:effectLst/>
                <a:latin typeface="Segoe WPC"/>
              </a:rPr>
              <a:t>Less strong than SA on tightly constrained single-bin cases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2920" y="3044952"/>
            <a:ext cx="502920" cy="502920"/>
          </a:xfrm>
          <a:prstGeom prst="ellipse">
            <a:avLst/>
          </a:prstGeom>
          <a:solidFill>
            <a:srgbClr val="FFB30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8992" y="30449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0" dirty="0">
                <a:solidFill>
                  <a:srgbClr val="BFBFBF"/>
                </a:solidFill>
                <a:effectLst/>
                <a:latin typeface="Segoe WPC"/>
              </a:rPr>
              <a:t>Genetic Algorithm (GA)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58444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932176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80CB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3044952"/>
            <a:ext cx="502920" cy="502920"/>
          </a:xfrm>
          <a:prstGeom prst="ellipse">
            <a:avLst/>
          </a:prstGeom>
          <a:solidFill>
            <a:srgbClr val="80CBC4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13832" y="30449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Heuristic is Critical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584448"/>
            <a:ext cx="3749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rgbClr val="BFBFBF"/>
                </a:solidFill>
                <a:effectLst/>
                <a:latin typeface="Segoe WPC"/>
              </a:rPr>
              <a:t>Multiple repair passes greatly improve feasibility on tight instances.</a:t>
            </a:r>
          </a:p>
          <a:p>
            <a:pPr algn="l"/>
            <a:endParaRPr lang="en-US" sz="800" b="0" i="0" dirty="0">
              <a:solidFill>
                <a:srgbClr val="BFBFBF"/>
              </a:solidFill>
              <a:effectLst/>
              <a:latin typeface="Segoe WPC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5A5241A5-F441-46A6-8636-E37BBD742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1943100"/>
            <a:ext cx="9144000" cy="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Segoe WPC"/>
              </a:rPr>
              <a:t>Exact methods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Segoe WPC"/>
              </a:rPr>
              <a:t> (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MILP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Segoe WPC"/>
              </a:rPr>
              <a:t>, 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Branch &amp; Bound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Segoe WPC"/>
              </a:rPr>
              <a:t>) are effective for 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Segoe WPC"/>
              </a:rPr>
              <a:t>small instances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Segoe WPC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Segoe WPC"/>
              </a:rPr>
              <a:t>Reliable for 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n ≤ 60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Segoe WPC"/>
              </a:rPr>
              <a:t> items within the 60-second limit.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Segoe WPC"/>
              </a:rPr>
              <a:t>Provide optimality guarantees (within the solver gap).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FBFBF"/>
                </a:solidFill>
                <a:effectLst/>
                <a:latin typeface="Segoe WPC"/>
              </a:rPr>
              <a:t>Not suitable for large-scale or real-time scheduling.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E88E5">
              <a:alpha val="8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0" y="3291840"/>
            <a:ext cx="5486400" cy="274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Cargo Loading Optimization  ·  NMO Group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2101</Words>
  <Application>Microsoft Office PowerPoint</Application>
  <PresentationFormat>Affichage à l'écran (16:9)</PresentationFormat>
  <Paragraphs>419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Consolas</vt:lpstr>
      <vt:lpstr>Segoe WPC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Airport Cargo Loading Optimization</dc:title>
  <dc:subject>PptxGenJS Presentation</dc:subject>
  <dc:creator>PptxGenJS</dc:creator>
  <cp:lastModifiedBy>serine serine</cp:lastModifiedBy>
  <cp:revision>18</cp:revision>
  <dcterms:created xsi:type="dcterms:W3CDTF">2026-06-08T23:12:22Z</dcterms:created>
  <dcterms:modified xsi:type="dcterms:W3CDTF">2026-06-09T06:22:45Z</dcterms:modified>
</cp:coreProperties>
</file>